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316D3F-D76B-47C5-AFD5-815A99D3737B}">
  <a:tblStyle styleId="{53316D3F-D76B-47C5-AFD5-815A99D3737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E4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 flipH="1">
            <a:off x="8869680" y="1188720"/>
            <a:ext cx="548640" cy="118872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418320" y="1188720"/>
            <a:ext cx="1188720" cy="54864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>
            <a:off x="10241280" y="1737360"/>
            <a:ext cx="365760" cy="118872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8869680" y="2377440"/>
            <a:ext cx="365760" cy="128016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10241280" y="2926080"/>
            <a:ext cx="914400" cy="64008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rot="10800000">
            <a:off x="9601200" y="2194560"/>
            <a:ext cx="640080" cy="73152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8595360" y="3657600"/>
            <a:ext cx="640080" cy="82296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9235440" y="3657600"/>
            <a:ext cx="822960" cy="128016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 flipH="1">
            <a:off x="10972800" y="3566160"/>
            <a:ext cx="182880" cy="109728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 flipH="1" rot="10800000">
            <a:off x="10058400" y="4663440"/>
            <a:ext cx="914400" cy="27432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 flipH="1" rot="10800000">
            <a:off x="9601200" y="1737360"/>
            <a:ext cx="1005840" cy="45720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8595360" y="4480560"/>
            <a:ext cx="1463040" cy="457200"/>
          </a:xfrm>
          <a:prstGeom prst="straightConnector1">
            <a:avLst/>
          </a:prstGeom>
          <a:noFill/>
          <a:ln cap="flat" cmpd="sng" w="12700">
            <a:solidFill>
              <a:srgbClr val="00A896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/>
          <p:nvPr/>
        </p:nvSpPr>
        <p:spPr>
          <a:xfrm>
            <a:off x="9345168" y="111556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0561320" y="169164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823960" y="233172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10168128" y="285292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9189720" y="361188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11109960" y="352044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8522208" y="440740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012680" y="489204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10927080" y="4617720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9528048" y="2121408"/>
            <a:ext cx="146304" cy="14630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 txBox="1"/>
          <p:nvPr/>
        </p:nvSpPr>
        <p:spPr>
          <a:xfrm>
            <a:off x="640080" y="1965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CLYVO VET  ·  SPRINT 3  ·  COMPONENTE DE 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640080" y="2331720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VetFlow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/>
          <p:nvPr/>
        </p:nvSpPr>
        <p:spPr>
          <a:xfrm>
            <a:off x="640080" y="342900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FEC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CFEFEC"/>
                </a:solidFill>
                <a:latin typeface="Calibri"/>
                <a:ea typeface="Calibri"/>
                <a:cs typeface="Calibri"/>
                <a:sym typeface="Calibri"/>
              </a:rPr>
              <a:t>Inteligência preditiva para o cuidado contínuo do pet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3"/>
          <p:cNvCxnSpPr/>
          <p:nvPr/>
        </p:nvCxnSpPr>
        <p:spPr>
          <a:xfrm>
            <a:off x="640080" y="4160520"/>
            <a:ext cx="1280160" cy="0"/>
          </a:xfrm>
          <a:prstGeom prst="straightConnector1">
            <a:avLst/>
          </a:prstGeom>
          <a:noFill/>
          <a:ln cap="flat" cmpd="sng" w="381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 txBox="1"/>
          <p:nvPr/>
        </p:nvSpPr>
        <p:spPr>
          <a:xfrm>
            <a:off x="640080" y="431596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EQUIPE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 txBox="1"/>
          <p:nvPr/>
        </p:nvSpPr>
        <p:spPr>
          <a:xfrm>
            <a:off x="640080" y="46177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Andrei de Paiva Gibbini</a:t>
            </a:r>
            <a:r>
              <a:rPr b="0" i="0" lang="en-US" sz="1150" u="none" cap="none" strike="noStrike">
                <a:solidFill>
                  <a:srgbClr val="9FCFC9"/>
                </a:solidFill>
                <a:latin typeface="Calibri"/>
                <a:ea typeface="Calibri"/>
                <a:cs typeface="Calibri"/>
                <a:sym typeface="Calibri"/>
              </a:rPr>
              <a:t>   RM 563061  ·  2TDSPF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640080" y="49651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Pedro Sakai Silva Zambaca</a:t>
            </a:r>
            <a:r>
              <a:rPr b="0" i="0" lang="en-US" sz="1150" u="none" cap="none" strike="noStrike">
                <a:solidFill>
                  <a:srgbClr val="9FCFC9"/>
                </a:solidFill>
                <a:latin typeface="Calibri"/>
                <a:ea typeface="Calibri"/>
                <a:cs typeface="Calibri"/>
                <a:sym typeface="Calibri"/>
              </a:rPr>
              <a:t>   RM 565956  ·  2TDSPF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 txBox="1"/>
          <p:nvPr/>
        </p:nvSpPr>
        <p:spPr>
          <a:xfrm>
            <a:off x="640080" y="531266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Pedro Santos Pequini</a:t>
            </a:r>
            <a:r>
              <a:rPr b="0" i="0" lang="en-US" sz="1150" u="none" cap="none" strike="noStrike">
                <a:solidFill>
                  <a:srgbClr val="9FCFC9"/>
                </a:solidFill>
                <a:latin typeface="Calibri"/>
                <a:ea typeface="Calibri"/>
                <a:cs typeface="Calibri"/>
                <a:sym typeface="Calibri"/>
              </a:rPr>
              <a:t>   RM 561842  ·  2TDSPF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 txBox="1"/>
          <p:nvPr/>
        </p:nvSpPr>
        <p:spPr>
          <a:xfrm>
            <a:off x="4572000" y="46177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Arthur Câmara</a:t>
            </a:r>
            <a:r>
              <a:rPr b="0" i="0" lang="en-US" sz="1150" u="none" cap="none" strike="noStrike">
                <a:solidFill>
                  <a:srgbClr val="9FCFC9"/>
                </a:solidFill>
                <a:latin typeface="Calibri"/>
                <a:ea typeface="Calibri"/>
                <a:cs typeface="Calibri"/>
                <a:sym typeface="Calibri"/>
              </a:rPr>
              <a:t>   RM 562310  ·  2TDSPG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4572000" y="496519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Diogo Cunha</a:t>
            </a:r>
            <a:r>
              <a:rPr b="0" i="0" lang="en-US" sz="1150" u="none" cap="none" strike="noStrike">
                <a:solidFill>
                  <a:srgbClr val="9FCFC9"/>
                </a:solidFill>
                <a:latin typeface="Calibri"/>
                <a:ea typeface="Calibri"/>
                <a:cs typeface="Calibri"/>
                <a:sym typeface="Calibri"/>
              </a:rPr>
              <a:t>   RM 563654  ·  2TDSPF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 PROPOSTA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VetFlow: um ecossistema completo de cuidado veterinário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0080" y="2286000"/>
            <a:ext cx="2011680" cy="2880360"/>
          </a:xfrm>
          <a:prstGeom prst="roundRect">
            <a:avLst>
              <a:gd fmla="val 4091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394460" y="20345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1394460" y="20345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77240" y="26517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App Mobile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804672" y="3291840"/>
            <a:ext cx="168249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React Native — tutor cadastra o pet, acompanha histórico e recebe lembretes.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834640" y="2286000"/>
            <a:ext cx="2011680" cy="2880360"/>
          </a:xfrm>
          <a:prstGeom prst="roundRect">
            <a:avLst>
              <a:gd fmla="val 4091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589020" y="20345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 txBox="1"/>
          <p:nvPr/>
        </p:nvSpPr>
        <p:spPr>
          <a:xfrm>
            <a:off x="3589020" y="20345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2971800" y="26517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API Principal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2999232" y="3291840"/>
            <a:ext cx="168249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Java · Spring Boot — pets, tutores, consultas, vacinas, medicamentos e histórico.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029200" y="2286000"/>
            <a:ext cx="2011680" cy="2880360"/>
          </a:xfrm>
          <a:prstGeom prst="roundRect">
            <a:avLst>
              <a:gd fmla="val 4091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5783580" y="20345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 txBox="1"/>
          <p:nvPr/>
        </p:nvSpPr>
        <p:spPr>
          <a:xfrm>
            <a:off x="5783580" y="20345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5166360" y="26517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API Complementar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5193792" y="3291840"/>
            <a:ext cx="168249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.NET — clínicas parceiras, agendamentos e notificações.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223760" y="2286000"/>
            <a:ext cx="2011680" cy="2880360"/>
          </a:xfrm>
          <a:prstGeom prst="roundRect">
            <a:avLst>
              <a:gd fmla="val 4091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7978140" y="20345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 txBox="1"/>
          <p:nvPr/>
        </p:nvSpPr>
        <p:spPr>
          <a:xfrm>
            <a:off x="7978140" y="20345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7360920" y="26517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Banco Oracle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 txBox="1"/>
          <p:nvPr/>
        </p:nvSpPr>
        <p:spPr>
          <a:xfrm>
            <a:off x="7388352" y="3291840"/>
            <a:ext cx="168249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Modelagem relacional de todas as entidades do sistema.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9418320" y="2286000"/>
            <a:ext cx="2011680" cy="2880360"/>
          </a:xfrm>
          <a:prstGeom prst="roundRect">
            <a:avLst>
              <a:gd fmla="val 4091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0172700" y="203454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10172700" y="20345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9555480" y="2651760"/>
            <a:ext cx="1737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Infraestrutura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9582912" y="3291840"/>
            <a:ext cx="1682496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Docker + Azure — aplicação containerizada em produção.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640080" y="539496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Arquitetura corporativa completa já documentada em TOGAF (Archi) — visão, negócio, sistema e tecnologia.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 PROBLEMA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Tutores só acionam a clínica em modo reativo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640080" y="1691640"/>
            <a:ext cx="6583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Hoje o contato só acontece diante de urgência, vacina vencida ou sintoma agudo. Isso gera: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1371600" y="228600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Baixa recorrência e menor LTV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 txBox="1"/>
          <p:nvPr/>
        </p:nvSpPr>
        <p:spPr>
          <a:xfrm>
            <a:off x="1371600" y="267004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O tutor só volta em emergência — a clínica perde relacionamento e receita recorrente ao longo do tempo.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/>
          <p:nvPr/>
        </p:nvSpPr>
        <p:spPr>
          <a:xfrm>
            <a:off x="1371600" y="35204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Histórico clínico fragmentado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 txBox="1"/>
          <p:nvPr/>
        </p:nvSpPr>
        <p:spPr>
          <a:xfrm>
            <a:off x="1371600" y="390448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Sem continuidade entre consultas, cada atendimento recomeça do zero, sem visão do caso completo.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640080" y="4800600"/>
            <a:ext cx="502920" cy="502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 txBox="1"/>
          <p:nvPr/>
        </p:nvSpPr>
        <p:spPr>
          <a:xfrm>
            <a:off x="640080" y="48006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 txBox="1"/>
          <p:nvPr/>
        </p:nvSpPr>
        <p:spPr>
          <a:xfrm>
            <a:off x="1371600" y="475488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Abandono de tratamentos e vacinas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 txBox="1"/>
          <p:nvPr/>
        </p:nvSpPr>
        <p:spPr>
          <a:xfrm>
            <a:off x="1371600" y="5138928"/>
            <a:ext cx="6035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Sem alertas preventivos, doses e retornos ficam para trás até virar urgência de novo.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8503920" y="1965960"/>
            <a:ext cx="3063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7A5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07A5F"/>
                </a:solidFill>
                <a:latin typeface="Calibri"/>
                <a:ea typeface="Calibri"/>
                <a:cs typeface="Calibri"/>
                <a:sym typeface="Calibri"/>
              </a:rPr>
              <a:t>ÚNICOS GATILHOS DE CONTATO HOJE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503920" y="2423160"/>
            <a:ext cx="3063240" cy="594360"/>
          </a:xfrm>
          <a:prstGeom prst="roundRect">
            <a:avLst>
              <a:gd fmla="val 49231" name="adj"/>
            </a:avLst>
          </a:prstGeom>
          <a:solidFill>
            <a:srgbClr val="FCEEEA"/>
          </a:solidFill>
          <a:ln cap="flat" cmpd="sng" w="127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705088" y="2606040"/>
            <a:ext cx="228600" cy="2286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 txBox="1"/>
          <p:nvPr/>
        </p:nvSpPr>
        <p:spPr>
          <a:xfrm>
            <a:off x="9052560" y="242316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Urgência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8503920" y="3200400"/>
            <a:ext cx="3063240" cy="594360"/>
          </a:xfrm>
          <a:prstGeom prst="roundRect">
            <a:avLst>
              <a:gd fmla="val 49231" name="adj"/>
            </a:avLst>
          </a:prstGeom>
          <a:solidFill>
            <a:srgbClr val="FCEEEA"/>
          </a:solidFill>
          <a:ln cap="flat" cmpd="sng" w="127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8705088" y="3383280"/>
            <a:ext cx="228600" cy="2286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 txBox="1"/>
          <p:nvPr/>
        </p:nvSpPr>
        <p:spPr>
          <a:xfrm>
            <a:off x="9052560" y="320040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Vacina vencida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8503920" y="3977640"/>
            <a:ext cx="3063240" cy="594360"/>
          </a:xfrm>
          <a:prstGeom prst="roundRect">
            <a:avLst>
              <a:gd fmla="val 49231" name="adj"/>
            </a:avLst>
          </a:prstGeom>
          <a:solidFill>
            <a:srgbClr val="FCEEEA"/>
          </a:solidFill>
          <a:ln cap="flat" cmpd="sng" w="12700">
            <a:solidFill>
              <a:srgbClr val="E07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8705088" y="4160520"/>
            <a:ext cx="228600" cy="228600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9052560" y="397764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Sintoma agudo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 txBox="1"/>
          <p:nvPr/>
        </p:nvSpPr>
        <p:spPr>
          <a:xfrm>
            <a:off x="8503920" y="4892040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Sem espaço para prevenção — é onde a IA entra.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 PAPEL DA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VetFlow ganha um núcleo preditivo de cuidado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640080" y="1920240"/>
            <a:ext cx="45720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 componente de IA lê o histórico já registrado no VetFlow — vacinas, consultas, medicações — e antecipa cuidado antes da urgência: mais recorrência para a clínica, histórico contínuo entre consultas e menos tratamentos abandonados.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640080" y="3703320"/>
            <a:ext cx="4572000" cy="1737360"/>
          </a:xfrm>
          <a:prstGeom prst="roundRect">
            <a:avLst>
              <a:gd fmla="val 4737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 txBox="1"/>
          <p:nvPr/>
        </p:nvSpPr>
        <p:spPr>
          <a:xfrm>
            <a:off x="914400" y="38862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Entrada → Saída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914400" y="420624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Histórico clínico do pet  →  score de risco e prioridade de ação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 rot="10800000">
            <a:off x="8518472" y="3737610"/>
            <a:ext cx="534528" cy="30861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6"/>
          <p:cNvCxnSpPr/>
          <p:nvPr/>
        </p:nvCxnSpPr>
        <p:spPr>
          <a:xfrm flipH="1" rot="10800000">
            <a:off x="10240840" y="3737610"/>
            <a:ext cx="534528" cy="30861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6"/>
          <p:cNvCxnSpPr/>
          <p:nvPr/>
        </p:nvCxnSpPr>
        <p:spPr>
          <a:xfrm>
            <a:off x="9646920" y="5074920"/>
            <a:ext cx="9144" cy="61722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8961120" y="3703320"/>
            <a:ext cx="1371600" cy="1371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8961120" y="370332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049241" y="336042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7226281" y="38907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Personalização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0741679" y="336042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9918719" y="389077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Priorização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9395460" y="5692140"/>
            <a:ext cx="502920" cy="5029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8572500" y="6222492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Recomendação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 ABORDAGEM DE 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Por que um modelo preditivo, e não outra abordagem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640080" y="1920240"/>
            <a:ext cx="2514600" cy="2743200"/>
          </a:xfrm>
          <a:prstGeom prst="roundRect">
            <a:avLst>
              <a:gd fmla="val 3273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 txBox="1"/>
          <p:nvPr/>
        </p:nvSpPr>
        <p:spPr>
          <a:xfrm>
            <a:off x="822960" y="214884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IA Generativa / LLM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822960" y="288036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Forte em linguagem livre — não é o ponto forte deste problema, que é numérico e histórico.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383280" y="1920240"/>
            <a:ext cx="2514600" cy="2743200"/>
          </a:xfrm>
          <a:prstGeom prst="roundRect">
            <a:avLst>
              <a:gd fmla="val 3273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 txBox="1"/>
          <p:nvPr/>
        </p:nvSpPr>
        <p:spPr>
          <a:xfrm>
            <a:off x="3566160" y="214884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Motor de Regras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3566160" y="288036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Rígido: exige reescrever regras a cada novo padrão de comportamento.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126480" y="1920240"/>
            <a:ext cx="2514600" cy="2743200"/>
          </a:xfrm>
          <a:prstGeom prst="roundRect">
            <a:avLst>
              <a:gd fmla="val 3273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6309360" y="214884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Sist. de Recomendação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6309360" y="288036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Bom para sugerir itens — aqui falta o sinal de “quando” agir.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8869680" y="1920240"/>
            <a:ext cx="2514600" cy="2743200"/>
          </a:xfrm>
          <a:prstGeom prst="roundRect">
            <a:avLst>
              <a:gd fmla="val 3273" name="adj"/>
            </a:avLst>
          </a:prstGeom>
          <a:solidFill>
            <a:srgbClr val="028090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8869680" y="1920240"/>
            <a:ext cx="2514600" cy="365760"/>
          </a:xfrm>
          <a:prstGeom prst="roundRect">
            <a:avLst>
              <a:gd fmla="val 225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/>
        </p:nvSpPr>
        <p:spPr>
          <a:xfrm>
            <a:off x="8869680" y="19202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3E43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13E43"/>
                </a:solidFill>
                <a:latin typeface="Calibri"/>
                <a:ea typeface="Calibri"/>
                <a:cs typeface="Calibri"/>
                <a:sym typeface="Calibri"/>
              </a:rPr>
              <a:t>ESCOLHIDA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9052560" y="2423160"/>
            <a:ext cx="2148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Modelo Preditivo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9052560" y="3200400"/>
            <a:ext cx="21488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F7F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4F7F3"/>
                </a:solidFill>
                <a:latin typeface="Calibri"/>
                <a:ea typeface="Calibri"/>
                <a:cs typeface="Calibri"/>
                <a:sym typeface="Calibri"/>
              </a:rPr>
              <a:t>Aprende com o histórico estruturado do Oracle para prever risco e antecipar cuidado.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640080" y="5029200"/>
            <a:ext cx="1091153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Justificativa técnica: os dados do VetFlow (Oracle) já são estruturados e relacionais — histórico de vacinas, consultas e medicações formam features prontas para um modelo supervisionado de classificação/regressão de risco.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OS 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O que alimenta o modelo — e de onde vem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40080" y="1920240"/>
            <a:ext cx="3520440" cy="1417320"/>
          </a:xfrm>
          <a:prstGeom prst="roundRect">
            <a:avLst>
              <a:gd fmla="val 5806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68680" y="214884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86868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371600" y="210312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Perfil do Pet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868680" y="263347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Espécie, raça, idade, porte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4389120" y="1920240"/>
            <a:ext cx="3520440" cy="1417320"/>
          </a:xfrm>
          <a:prstGeom prst="roundRect">
            <a:avLst>
              <a:gd fmla="val 5806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4617720" y="214884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 txBox="1"/>
          <p:nvPr/>
        </p:nvSpPr>
        <p:spPr>
          <a:xfrm>
            <a:off x="461772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 txBox="1"/>
          <p:nvPr/>
        </p:nvSpPr>
        <p:spPr>
          <a:xfrm>
            <a:off x="5120640" y="210312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Histórico de Vacinas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 txBox="1"/>
          <p:nvPr/>
        </p:nvSpPr>
        <p:spPr>
          <a:xfrm>
            <a:off x="4617720" y="263347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Datas aplicadas, próximas doses, atrasos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138160" y="1920240"/>
            <a:ext cx="3520440" cy="1417320"/>
          </a:xfrm>
          <a:prstGeom prst="roundRect">
            <a:avLst>
              <a:gd fmla="val 5806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8366760" y="214884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 txBox="1"/>
          <p:nvPr/>
        </p:nvSpPr>
        <p:spPr>
          <a:xfrm>
            <a:off x="8366760" y="21488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8869680" y="210312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Consultas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8366760" y="263347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Datas, motivo, retorno recomendado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640080" y="3566160"/>
            <a:ext cx="3520440" cy="1417320"/>
          </a:xfrm>
          <a:prstGeom prst="roundRect">
            <a:avLst>
              <a:gd fmla="val 5806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868680" y="379476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 txBox="1"/>
          <p:nvPr/>
        </p:nvSpPr>
        <p:spPr>
          <a:xfrm>
            <a:off x="868680" y="3794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371600" y="374904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Medicações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868680" y="4279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Prescrições ativas, duração, adesão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389120" y="3566160"/>
            <a:ext cx="3520440" cy="1417320"/>
          </a:xfrm>
          <a:prstGeom prst="roundRect">
            <a:avLst>
              <a:gd fmla="val 5806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4617720" y="379476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 txBox="1"/>
          <p:nvPr/>
        </p:nvSpPr>
        <p:spPr>
          <a:xfrm>
            <a:off x="4617720" y="3794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 txBox="1"/>
          <p:nvPr/>
        </p:nvSpPr>
        <p:spPr>
          <a:xfrm>
            <a:off x="5120640" y="374904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Eventos Clínicos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4617720" y="4279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Diagnósticos, exames, ocorrências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8138160" y="3566160"/>
            <a:ext cx="3520440" cy="1417320"/>
          </a:xfrm>
          <a:prstGeom prst="roundRect">
            <a:avLst>
              <a:gd fmla="val 5806" name="adj"/>
            </a:avLst>
          </a:prstGeom>
          <a:solidFill>
            <a:srgbClr val="F4FA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366760" y="3794760"/>
            <a:ext cx="365760" cy="36576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 txBox="1"/>
          <p:nvPr/>
        </p:nvSpPr>
        <p:spPr>
          <a:xfrm>
            <a:off x="8366760" y="37947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8869680" y="374904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Comportamento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8366760" y="4279392"/>
            <a:ext cx="3063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Registros informados pelo tutor no app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640080" y="6172200"/>
            <a:ext cx="1091153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Origem única: banco Oracle (modelagem relacional já existente do VetFlow).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E43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ARQUITETURA DE INTEGRAÇÃO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Como o componente de IA conversa com o VetFlow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69468" y="283464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0B4E52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 txBox="1"/>
          <p:nvPr/>
        </p:nvSpPr>
        <p:spPr>
          <a:xfrm>
            <a:off x="769468" y="309067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App Mobile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 txBox="1"/>
          <p:nvPr/>
        </p:nvSpPr>
        <p:spPr>
          <a:xfrm>
            <a:off x="769468" y="354787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9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E9E4"/>
                </a:solidFill>
                <a:latin typeface="Calibri"/>
                <a:ea typeface="Calibri"/>
                <a:cs typeface="Calibri"/>
                <a:sym typeface="Calibri"/>
              </a:rPr>
              <a:t>React Native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9"/>
          <p:cNvCxnSpPr/>
          <p:nvPr/>
        </p:nvCxnSpPr>
        <p:spPr>
          <a:xfrm>
            <a:off x="3055468" y="352044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9"/>
          <p:cNvSpPr/>
          <p:nvPr/>
        </p:nvSpPr>
        <p:spPr>
          <a:xfrm>
            <a:off x="3558388" y="283464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0B4E52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 txBox="1"/>
          <p:nvPr/>
        </p:nvSpPr>
        <p:spPr>
          <a:xfrm>
            <a:off x="3558388" y="309067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APIs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 txBox="1"/>
          <p:nvPr/>
        </p:nvSpPr>
        <p:spPr>
          <a:xfrm>
            <a:off x="3558388" y="354787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9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E9E4"/>
                </a:solidFill>
                <a:latin typeface="Calibri"/>
                <a:ea typeface="Calibri"/>
                <a:cs typeface="Calibri"/>
                <a:sym typeface="Calibri"/>
              </a:rPr>
              <a:t>Java (Spring Boot) · .NET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9"/>
          <p:cNvCxnSpPr/>
          <p:nvPr/>
        </p:nvCxnSpPr>
        <p:spPr>
          <a:xfrm>
            <a:off x="5844388" y="352044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9"/>
          <p:cNvSpPr/>
          <p:nvPr/>
        </p:nvSpPr>
        <p:spPr>
          <a:xfrm>
            <a:off x="6347308" y="283464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0B4E52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6347308" y="309067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Banco Oracle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6347308" y="354787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9E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FE9E4"/>
                </a:solidFill>
                <a:latin typeface="Calibri"/>
                <a:ea typeface="Calibri"/>
                <a:cs typeface="Calibri"/>
                <a:sym typeface="Calibri"/>
              </a:rPr>
              <a:t>Dados relacionais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9"/>
          <p:cNvCxnSpPr/>
          <p:nvPr/>
        </p:nvCxnSpPr>
        <p:spPr>
          <a:xfrm>
            <a:off x="8633308" y="3520440"/>
            <a:ext cx="502920" cy="0"/>
          </a:xfrm>
          <a:prstGeom prst="straightConnector1">
            <a:avLst/>
          </a:prstGeom>
          <a:noFill/>
          <a:ln cap="flat" cmpd="sng" w="25400">
            <a:solidFill>
              <a:srgbClr val="02C39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" name="Google Shape;213;p9"/>
          <p:cNvSpPr/>
          <p:nvPr/>
        </p:nvSpPr>
        <p:spPr>
          <a:xfrm>
            <a:off x="9136228" y="2834640"/>
            <a:ext cx="2286000" cy="1371600"/>
          </a:xfrm>
          <a:prstGeom prst="roundRect">
            <a:avLst>
              <a:gd fmla="val 6667" name="adj"/>
            </a:avLst>
          </a:prstGeom>
          <a:solidFill>
            <a:srgbClr val="02C39A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9136228" y="3090672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3E4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013E43"/>
                </a:solidFill>
                <a:latin typeface="Cambria"/>
                <a:ea typeface="Cambria"/>
                <a:cs typeface="Cambria"/>
                <a:sym typeface="Cambria"/>
              </a:rPr>
              <a:t>Serviço de 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 txBox="1"/>
          <p:nvPr/>
        </p:nvSpPr>
        <p:spPr>
          <a:xfrm>
            <a:off x="9136228" y="3547872"/>
            <a:ext cx="2286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3D3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B3D3F"/>
                </a:solidFill>
                <a:latin typeface="Calibri"/>
                <a:ea typeface="Calibri"/>
                <a:cs typeface="Calibri"/>
                <a:sym typeface="Calibri"/>
              </a:rPr>
              <a:t>Modelo preditivo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9"/>
          <p:cNvCxnSpPr/>
          <p:nvPr/>
        </p:nvCxnSpPr>
        <p:spPr>
          <a:xfrm>
            <a:off x="10279228" y="4206240"/>
            <a:ext cx="9144" cy="32004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7" name="Google Shape;217;p9"/>
          <p:cNvCxnSpPr/>
          <p:nvPr/>
        </p:nvCxnSpPr>
        <p:spPr>
          <a:xfrm>
            <a:off x="10279228" y="4526280"/>
            <a:ext cx="9144" cy="59436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8" name="Google Shape;218;p9"/>
          <p:cNvCxnSpPr/>
          <p:nvPr/>
        </p:nvCxnSpPr>
        <p:spPr>
          <a:xfrm>
            <a:off x="1912468" y="5120640"/>
            <a:ext cx="8366760" cy="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dash"/>
            <a:round/>
            <a:headEnd len="med" w="med" type="triangle"/>
            <a:tailEnd len="sm" w="sm" type="none"/>
          </a:ln>
        </p:spPr>
      </p:cxnSp>
      <p:cxnSp>
        <p:nvCxnSpPr>
          <p:cNvPr id="219" name="Google Shape;219;p9"/>
          <p:cNvCxnSpPr/>
          <p:nvPr/>
        </p:nvCxnSpPr>
        <p:spPr>
          <a:xfrm>
            <a:off x="1912468" y="4206240"/>
            <a:ext cx="9144" cy="914400"/>
          </a:xfrm>
          <a:prstGeom prst="straightConnector1">
            <a:avLst/>
          </a:prstGeom>
          <a:noFill/>
          <a:ln cap="flat" cmpd="sng" w="19050">
            <a:solidFill>
              <a:srgbClr val="00A896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0" name="Google Shape;220;p9"/>
          <p:cNvSpPr txBox="1"/>
          <p:nvPr/>
        </p:nvSpPr>
        <p:spPr>
          <a:xfrm>
            <a:off x="769468" y="5257800"/>
            <a:ext cx="10652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FE9E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FE9E4"/>
                </a:solidFill>
                <a:latin typeface="Calibri"/>
                <a:ea typeface="Calibri"/>
                <a:cs typeface="Calibri"/>
                <a:sym typeface="Calibri"/>
              </a:rPr>
              <a:t>previsão de risco e recomendação retornam para o app do tutor e o painel da clínica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COMO OS DADOS FLUEM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Do toque no app até a recomendação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40080" y="2103120"/>
            <a:ext cx="2606040" cy="2926080"/>
          </a:xfrm>
          <a:prstGeom prst="roundRect">
            <a:avLst>
              <a:gd fmla="val 3158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1668780" y="18288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166878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 txBox="1"/>
          <p:nvPr/>
        </p:nvSpPr>
        <p:spPr>
          <a:xfrm>
            <a:off x="822960" y="25146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Tutor interage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 txBox="1"/>
          <p:nvPr/>
        </p:nvSpPr>
        <p:spPr>
          <a:xfrm>
            <a:off x="868680" y="310896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Cadastra o pet, registra sintomas ou consulta o histórico no app mobile.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10"/>
          <p:cNvCxnSpPr/>
          <p:nvPr/>
        </p:nvCxnSpPr>
        <p:spPr>
          <a:xfrm>
            <a:off x="3246120" y="356616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4" name="Google Shape;234;p10"/>
          <p:cNvSpPr/>
          <p:nvPr/>
        </p:nvSpPr>
        <p:spPr>
          <a:xfrm>
            <a:off x="3474720" y="2103120"/>
            <a:ext cx="2606040" cy="2926080"/>
          </a:xfrm>
          <a:prstGeom prst="roundRect">
            <a:avLst>
              <a:gd fmla="val 3158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4503420" y="18288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 txBox="1"/>
          <p:nvPr/>
        </p:nvSpPr>
        <p:spPr>
          <a:xfrm>
            <a:off x="450342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 txBox="1"/>
          <p:nvPr/>
        </p:nvSpPr>
        <p:spPr>
          <a:xfrm>
            <a:off x="3657600" y="25146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API registra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/>
        </p:nvSpPr>
        <p:spPr>
          <a:xfrm>
            <a:off x="3703320" y="310896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Java (Spring Boot) e .NET gravam e consultam os dados no Oracle.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10"/>
          <p:cNvCxnSpPr/>
          <p:nvPr/>
        </p:nvCxnSpPr>
        <p:spPr>
          <a:xfrm>
            <a:off x="6080760" y="356616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10"/>
          <p:cNvSpPr/>
          <p:nvPr/>
        </p:nvSpPr>
        <p:spPr>
          <a:xfrm>
            <a:off x="6309360" y="2103120"/>
            <a:ext cx="2606040" cy="2926080"/>
          </a:xfrm>
          <a:prstGeom prst="roundRect">
            <a:avLst>
              <a:gd fmla="val 3158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7338060" y="18288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 txBox="1"/>
          <p:nvPr/>
        </p:nvSpPr>
        <p:spPr>
          <a:xfrm>
            <a:off x="733806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 txBox="1"/>
          <p:nvPr/>
        </p:nvSpPr>
        <p:spPr>
          <a:xfrm>
            <a:off x="6492240" y="25146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IA processa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6537960" y="310896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O serviço de IA lê o histórico estruturado e calcula o score de risco.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10"/>
          <p:cNvCxnSpPr/>
          <p:nvPr/>
        </p:nvCxnSpPr>
        <p:spPr>
          <a:xfrm>
            <a:off x="8915400" y="3566160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" name="Google Shape;246;p10"/>
          <p:cNvSpPr/>
          <p:nvPr/>
        </p:nvSpPr>
        <p:spPr>
          <a:xfrm>
            <a:off x="9144000" y="2103120"/>
            <a:ext cx="2606040" cy="2926080"/>
          </a:xfrm>
          <a:prstGeom prst="roundRect">
            <a:avLst>
              <a:gd fmla="val 3158" name="adj"/>
            </a:avLst>
          </a:prstGeom>
          <a:solidFill>
            <a:srgbClr val="F4FAF9"/>
          </a:solidFill>
          <a:ln>
            <a:noFill/>
          </a:ln>
          <a:effectLst>
            <a:outerShdw blurRad="76200" rotWithShape="0" algn="bl" dir="5400000" dist="25400">
              <a:srgbClr val="1F2937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10172700" y="1828800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 txBox="1"/>
          <p:nvPr/>
        </p:nvSpPr>
        <p:spPr>
          <a:xfrm>
            <a:off x="10172700" y="18288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9326880" y="251460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App recomenda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9372600" y="3108960"/>
            <a:ext cx="2148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Tutor e clínica recebem a prioridade e a ação sugerida, no momento certo.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BENEFÍCIOS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Cuidado mais próximo, gestão mais inteligente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640080" y="1874520"/>
            <a:ext cx="3454298" cy="4206240"/>
          </a:xfrm>
          <a:prstGeom prst="roundRect">
            <a:avLst>
              <a:gd fmla="val 2382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914400" y="2103120"/>
            <a:ext cx="29056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Para o Tutor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914400" y="278892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 txBox="1"/>
          <p:nvPr/>
        </p:nvSpPr>
        <p:spPr>
          <a:xfrm>
            <a:off x="1170432" y="260604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Lembretes com prioridade real, não só data no calendário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914400" y="388620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 txBox="1"/>
          <p:nvPr/>
        </p:nvSpPr>
        <p:spPr>
          <a:xfrm>
            <a:off x="1170432" y="370332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Recomendações personalizadas para o pet específico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914400" y="498348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1170432" y="480060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Mais tranquilidade e prevenção, menos surpresas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368698" y="1874520"/>
            <a:ext cx="3454298" cy="4206240"/>
          </a:xfrm>
          <a:prstGeom prst="roundRect">
            <a:avLst>
              <a:gd fmla="val 2382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4643018" y="2103120"/>
            <a:ext cx="29056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Para a Clínica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643018" y="278892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4899050" y="260604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Mais recorrência e LTV, com contato preventivo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4643018" y="388620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4899050" y="370332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Histórico contínuo do pet entre consultas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643018" y="498348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4899050" y="480060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Lista priorizada de quem contatar primeiro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8097317" y="1874520"/>
            <a:ext cx="3454298" cy="4206240"/>
          </a:xfrm>
          <a:prstGeom prst="roundRect">
            <a:avLst>
              <a:gd fmla="val 2382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 txBox="1"/>
          <p:nvPr/>
        </p:nvSpPr>
        <p:spPr>
          <a:xfrm>
            <a:off x="8371637" y="2103120"/>
            <a:ext cx="290565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50"/>
              <a:buFont typeface="Cambria"/>
              <a:buNone/>
            </a:pPr>
            <a:r>
              <a:rPr b="1" i="0" lang="en-US" sz="165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Para o Pet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8371637" y="278892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 txBox="1"/>
          <p:nvPr/>
        </p:nvSpPr>
        <p:spPr>
          <a:xfrm>
            <a:off x="8627669" y="260604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Cuidado no tempo certo, antes de virar urgência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8371637" y="388620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8627669" y="370332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Continuidade real do tratamento, sem lacunas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8371637" y="4983480"/>
            <a:ext cx="118872" cy="1188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8627669" y="4800600"/>
            <a:ext cx="264962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Menos episódios agudos e menos estresse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"/>
          <p:cNvSpPr txBox="1"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DEMONSTRAÇÃO (SIMULADA)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 txBox="1"/>
          <p:nvPr/>
        </p:nvSpPr>
        <p:spPr>
          <a:xfrm>
            <a:off x="640080" y="749808"/>
            <a:ext cx="10911535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VetFlow em ação: tutor e clínica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2"/>
          <p:cNvSpPr/>
          <p:nvPr/>
        </p:nvSpPr>
        <p:spPr>
          <a:xfrm>
            <a:off x="822960" y="1600200"/>
            <a:ext cx="2651760" cy="5074920"/>
          </a:xfrm>
          <a:prstGeom prst="roundRect">
            <a:avLst>
              <a:gd fmla="val 8621" name="adj"/>
            </a:avLst>
          </a:prstGeom>
          <a:solidFill>
            <a:srgbClr val="013E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932688" y="1920240"/>
            <a:ext cx="2432304" cy="4434840"/>
          </a:xfrm>
          <a:prstGeom prst="roundRect">
            <a:avLst>
              <a:gd fmla="val 451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1069848" y="2057400"/>
            <a:ext cx="21579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VetFlow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1069848" y="2423160"/>
            <a:ext cx="2157984" cy="1051560"/>
          </a:xfrm>
          <a:prstGeom prst="roundRect">
            <a:avLst>
              <a:gd fmla="val 7826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1207008" y="2542032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Thor  ·  Golden Retriever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2"/>
          <p:cNvSpPr/>
          <p:nvPr/>
        </p:nvSpPr>
        <p:spPr>
          <a:xfrm>
            <a:off x="1207008" y="2862072"/>
            <a:ext cx="310896" cy="310896"/>
          </a:xfrm>
          <a:prstGeom prst="ellipse">
            <a:avLst/>
          </a:prstGeom>
          <a:solidFill>
            <a:srgbClr val="E07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1207008" y="286207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Alta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 txBox="1"/>
          <p:nvPr/>
        </p:nvSpPr>
        <p:spPr>
          <a:xfrm>
            <a:off x="1600200" y="2843784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Vacina antirrábica vencendo há 5 dias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069848" y="3611880"/>
            <a:ext cx="2157984" cy="1051560"/>
          </a:xfrm>
          <a:prstGeom prst="roundRect">
            <a:avLst>
              <a:gd fmla="val 7826" name="adj"/>
            </a:avLst>
          </a:prstGeom>
          <a:solidFill>
            <a:srgbClr val="EA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1207008" y="3730752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Mel  ·  Gato SRD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1207008" y="4050792"/>
            <a:ext cx="310896" cy="310896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 txBox="1"/>
          <p:nvPr/>
        </p:nvSpPr>
        <p:spPr>
          <a:xfrm>
            <a:off x="1207008" y="405079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Média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 txBox="1"/>
          <p:nvPr/>
        </p:nvSpPr>
        <p:spPr>
          <a:xfrm>
            <a:off x="1600200" y="4032504"/>
            <a:ext cx="14904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Retorno de rotina recomendado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1069848" y="4846320"/>
            <a:ext cx="2157984" cy="384048"/>
          </a:xfrm>
          <a:prstGeom prst="roundRect">
            <a:avLst>
              <a:gd fmla="val 19048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 txBox="1"/>
          <p:nvPr/>
        </p:nvSpPr>
        <p:spPr>
          <a:xfrm>
            <a:off x="1069848" y="4846320"/>
            <a:ext cx="215798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 todas as prioridades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12"/>
          <p:cNvCxnSpPr/>
          <p:nvPr/>
        </p:nvCxnSpPr>
        <p:spPr>
          <a:xfrm>
            <a:off x="1069848" y="5943600"/>
            <a:ext cx="2157984" cy="0"/>
          </a:xfrm>
          <a:prstGeom prst="straightConnector1">
            <a:avLst/>
          </a:prstGeom>
          <a:noFill/>
          <a:ln cap="flat" cmpd="sng" w="12700">
            <a:solidFill>
              <a:srgbClr val="E4EFE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12"/>
          <p:cNvSpPr txBox="1"/>
          <p:nvPr/>
        </p:nvSpPr>
        <p:spPr>
          <a:xfrm>
            <a:off x="932688" y="6035040"/>
            <a:ext cx="2432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Início</a:t>
            </a:r>
            <a:r>
              <a:rPr b="0" i="0" lang="en-US" sz="8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      Histórico      Perfil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4114800" y="1737360"/>
            <a:ext cx="743681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Painel da Clínica — Fila de Prioridade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 txBox="1"/>
          <p:nvPr/>
        </p:nvSpPr>
        <p:spPr>
          <a:xfrm>
            <a:off x="4114800" y="2121408"/>
            <a:ext cx="74368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Ordenada automaticamente pelo score de risco calculado pela IA.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8" name="Google Shape;308;p12"/>
          <p:cNvGraphicFramePr/>
          <p:nvPr/>
        </p:nvGraphicFramePr>
        <p:xfrm>
          <a:off x="4114800" y="2606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{53316D3F-D76B-47C5-AFD5-815A99D3737B}</a:tableStyleId>
              </a:tblPr>
              <a:tblGrid>
                <a:gridCol w="3017525"/>
                <a:gridCol w="1005850"/>
                <a:gridCol w="3413450"/>
              </a:tblGrid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Pet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Ação Recomendada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Thor · Golden Retriever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7A5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07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Contato para reforço vacinal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Bidu · Poodle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7A5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07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Retorno de acompanhamento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Mel · Gato SRD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A896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A89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Consulta de rotina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0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Luna · Vira-lata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2C39A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2C39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F293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 ação necessária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C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12"/>
          <p:cNvSpPr txBox="1"/>
          <p:nvPr/>
        </p:nvSpPr>
        <p:spPr>
          <a:xfrm>
            <a:off x="4114800" y="5486400"/>
            <a:ext cx="743681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B6B6C"/>
                </a:solidFill>
                <a:latin typeface="Calibri"/>
                <a:ea typeface="Calibri"/>
                <a:cs typeface="Calibri"/>
                <a:sym typeface="Calibri"/>
              </a:rPr>
              <a:t>Score recalculado a cada nova vacina, consulta ou medicação registrada.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3E43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 txBox="1"/>
          <p:nvPr/>
        </p:nvSpPr>
        <p:spPr>
          <a:xfrm>
            <a:off x="640080" y="14630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 txBox="1"/>
          <p:nvPr/>
        </p:nvSpPr>
        <p:spPr>
          <a:xfrm>
            <a:off x="1234440" y="198424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Treinar o modelo com dados simulados do VetFlow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640080" y="265176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640080" y="26517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 txBox="1"/>
          <p:nvPr/>
        </p:nvSpPr>
        <p:spPr>
          <a:xfrm>
            <a:off x="1234440" y="267004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Integrar o serviço de IA às APIs Java/.NET existentes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640080" y="3337560"/>
            <a:ext cx="384048" cy="384048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3"/>
          <p:cNvSpPr txBox="1"/>
          <p:nvPr/>
        </p:nvSpPr>
        <p:spPr>
          <a:xfrm>
            <a:off x="640080" y="33375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 txBox="1"/>
          <p:nvPr/>
        </p:nvSpPr>
        <p:spPr>
          <a:xfrm>
            <a:off x="1234440" y="335584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Validar o score de risco com casos reais de clínica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5" name="Google Shape;325;p13"/>
          <p:cNvCxnSpPr/>
          <p:nvPr/>
        </p:nvCxnSpPr>
        <p:spPr>
          <a:xfrm>
            <a:off x="640080" y="4343400"/>
            <a:ext cx="2011680" cy="0"/>
          </a:xfrm>
          <a:prstGeom prst="straightConnector1">
            <a:avLst/>
          </a:prstGeom>
          <a:noFill/>
          <a:ln cap="flat" cmpd="sng" w="381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6" name="Google Shape;326;p13"/>
          <p:cNvSpPr txBox="1"/>
          <p:nvPr/>
        </p:nvSpPr>
        <p:spPr>
          <a:xfrm>
            <a:off x="640080" y="457200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VetFlow: cuidado contínuo, decisões antecipadas.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640080" y="52578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CFC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CFC9"/>
                </a:solidFill>
                <a:latin typeface="Calibri"/>
                <a:ea typeface="Calibri"/>
                <a:cs typeface="Calibri"/>
                <a:sym typeface="Calibri"/>
              </a:rPr>
              <a:t>Obrigado — CLYVO VET · Sprint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